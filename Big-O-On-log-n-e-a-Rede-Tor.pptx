
<file path=[Content_Types].xml><?xml version="1.0" encoding="utf-8"?>
<Types xmlns="http://schemas.openxmlformats.org/package/2006/content-types">
  <Default Extension="xml" ContentType="application/xml"/>
  <Default Extension="svg" ContentType="image/svg+xml"/>
  <Default Extension="jpg" ContentType="image/jpeg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slides/slide6.xml" ContentType="application/vnd.openxmlformats-officedocument.presentationml.slide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8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embedTrueTypeFonts="1" saveSubsetFonts="1">
  <p:sldMasterIdLst>
    <p:sldMasterId id="2147483648" r:id="rId1"/>
  </p:sldMasterIdLst>
  <p:notesMasterIdLst>
    <p:notesMasterId r:id="rId13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1695" cy="6858000"/>
  <p:notesSz cx="6858000" cy="12191695"/>
  <p:defaultTextStyle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>
        <p:guide pos="3840"/>
        <p:guide pos="2160" orient="horz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 /><Relationship Id="rId15" Type="http://schemas.openxmlformats.org/officeDocument/2006/relationships/tableStyles" Target="tableStyles.xml" /><Relationship Id="rId16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1762227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97899154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652953090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2014905627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50389398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115297736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709331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810080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601040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348317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894693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760804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918268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4225490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263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B8D7716-F0B9-48EB-76A5-F18F29CF54E8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787952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3523107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565772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163349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4260899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9251406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573119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8521175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003761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842761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2643195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4999312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832933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237785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1768289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985156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679581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3283893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968150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276276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709358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Slide master 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036201" name="Shape 0"/>
          <p:cNvSpPr/>
          <p:nvPr/>
        </p:nvSpPr>
        <p:spPr bwMode="auto">
          <a:xfrm>
            <a:off x="0" y="0"/>
            <a:ext cx="12191695" cy="68580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1720655942" name="Shape 1"/>
          <p:cNvSpPr/>
          <p:nvPr/>
        </p:nvSpPr>
        <p:spPr bwMode="auto">
          <a:xfrm>
            <a:off x="0" y="0"/>
            <a:ext cx="12191695" cy="6858000"/>
          </a:xfrm>
          <a:prstGeom prst="rect">
            <a:avLst/>
          </a:prstGeom>
          <a:solidFill>
            <a:srgbClr val="050505"/>
          </a:solidFill>
          <a:ln/>
        </p:spPr>
      </p:sp>
      <p:pic>
        <p:nvPicPr>
          <p:cNvPr id="1151443172" name="Image 0" descr="preencoded.png">
            <a:hlinkClick r:id="rId2" tooltip=""/>
          </p:cNvPr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dt="0" ftr="0" hdr="0" sldNum="0"/>
  <p:txStyles>
    <p:titleStyle>
      <a:lvl1pPr algn="ctr" defTabSz="9144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Relationship Id="rId4" Type="http://schemas.openxmlformats.org/officeDocument/2006/relationships/image" Target="../media/image4.jp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jpg"/><Relationship Id="rId6" Type="http://schemas.openxmlformats.org/officeDocument/2006/relationships/image" Target="../media/image8.jp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jpg"/><Relationship Id="rId4" Type="http://schemas.openxmlformats.org/officeDocument/2006/relationships/image" Target="../media/image10.jpg"/><Relationship Id="rId5" Type="http://schemas.openxmlformats.org/officeDocument/2006/relationships/image" Target="../media/image11.jpg"/><Relationship Id="rId6" Type="http://schemas.openxmlformats.org/officeDocument/2006/relationships/image" Target="../media/image8.jp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jpg"/><Relationship Id="rId4" Type="http://schemas.openxmlformats.org/officeDocument/2006/relationships/image" Target="../media/image12.jp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jp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jpg"/><Relationship Id="rId4" Type="http://schemas.openxmlformats.org/officeDocument/2006/relationships/image" Target="../media/image8.jp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png"/><Relationship Id="rId4" Type="http://schemas.openxmlformats.org/officeDocument/2006/relationships/image" Target="../media/image8.jp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5.jpg"/><Relationship Id="rId4" Type="http://schemas.openxmlformats.org/officeDocument/2006/relationships/image" Target="../media/image16.png"/><Relationship Id="rId5" Type="http://schemas.openxmlformats.org/officeDocument/2006/relationships/image" Target="../media/media1.svg"/><Relationship Id="rId6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97649889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936473529" name="Text 0"/>
          <p:cNvSpPr/>
          <p:nvPr/>
        </p:nvSpPr>
        <p:spPr bwMode="auto">
          <a:xfrm>
            <a:off x="349449" y="1106586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3700">
                <a:solidFill>
                  <a:srgbClr val="F2F2F3"/>
                </a:solidFill>
                <a:latin typeface="Poppins Light"/>
                <a:ea typeface="Poppins Light"/>
                <a:cs typeface="Poppins Light"/>
              </a:rPr>
              <a:t>Big O: O(n log n) e a Rede Tor</a:t>
            </a:r>
            <a:endParaRPr lang="en-US" sz="3700"/>
          </a:p>
        </p:txBody>
      </p:sp>
      <p:sp>
        <p:nvSpPr>
          <p:cNvPr id="1757276106" name="Text 1"/>
          <p:cNvSpPr/>
          <p:nvPr/>
        </p:nvSpPr>
        <p:spPr bwMode="auto">
          <a:xfrm flipH="0" flipV="0">
            <a:off x="526870" y="3563662"/>
            <a:ext cx="5942016" cy="26440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spcAft>
                <a:spcPts val="1649"/>
              </a:spcAft>
              <a:buNone/>
              <a:defRPr/>
            </a:pPr>
            <a:r>
              <a:rPr lang="en-US" sz="2800" b="0" i="0" u="none" strike="noStrike" cap="none" spc="0">
                <a:solidFill>
                  <a:srgbClr val="E5E0DF"/>
                </a:solidFill>
                <a:latin typeface="Roboto Light"/>
                <a:ea typeface="Roboto Light"/>
                <a:cs typeface="Roboto Light"/>
              </a:rPr>
              <a:t>Nome: Luann Pereira Mendes</a:t>
            </a:r>
            <a:endParaRPr sz="2800">
              <a:solidFill>
                <a:srgbClr val="E5E0DF"/>
              </a:solidFill>
              <a:latin typeface="Roboto Light"/>
              <a:ea typeface="Roboto Light"/>
              <a:cs typeface="Roboto Light"/>
            </a:endParaRPr>
          </a:p>
          <a:p>
            <a:pPr marL="0" indent="0" algn="l">
              <a:lnSpc>
                <a:spcPct val="100000"/>
              </a:lnSpc>
              <a:spcAft>
                <a:spcPts val="1648"/>
              </a:spcAft>
              <a:buNone/>
              <a:defRPr/>
            </a:pPr>
            <a:r>
              <a:rPr lang="en-US" sz="2800" b="0" i="0" u="none" strike="noStrike" cap="none" spc="0">
                <a:solidFill>
                  <a:srgbClr val="E5E0DF"/>
                </a:solidFill>
                <a:latin typeface="Roboto Light"/>
                <a:ea typeface="Roboto Light"/>
                <a:cs typeface="Roboto Light"/>
              </a:rPr>
              <a:t>Matrícula: 202310234</a:t>
            </a:r>
            <a:endParaRPr sz="2800">
              <a:solidFill>
                <a:srgbClr val="E5E0DF"/>
              </a:solidFill>
              <a:latin typeface="Roboto Light"/>
              <a:ea typeface="Roboto Light"/>
              <a:cs typeface="Roboto Light"/>
            </a:endParaRPr>
          </a:p>
          <a:p>
            <a:pPr marL="0" indent="0" algn="l">
              <a:lnSpc>
                <a:spcPct val="150000"/>
              </a:lnSpc>
              <a:buNone/>
              <a:defRPr/>
            </a:pPr>
            <a:r>
              <a:rPr lang="en-US" sz="2800" b="0" i="0" u="none" strike="noStrike" cap="none" spc="0">
                <a:solidFill>
                  <a:srgbClr val="E5E0DF"/>
                </a:solidFill>
                <a:latin typeface="Roboto Light"/>
                <a:ea typeface="Roboto Light"/>
                <a:cs typeface="Roboto Light"/>
              </a:rPr>
              <a:t>Nome: Kauê da Conceição </a:t>
            </a:r>
            <a:r>
              <a:rPr lang="en-US" sz="2800" b="0" i="0" u="none" strike="noStrike" cap="none" spc="0">
                <a:solidFill>
                  <a:srgbClr val="E5E0DF"/>
                </a:solidFill>
                <a:latin typeface="Roboto Light"/>
                <a:ea typeface="Roboto Light"/>
                <a:cs typeface="Roboto Light"/>
              </a:rPr>
              <a:t>Alves    </a:t>
            </a:r>
            <a:endParaRPr sz="2800"/>
          </a:p>
          <a:p>
            <a:pPr marL="0" indent="0" algn="l">
              <a:lnSpc>
                <a:spcPct val="100000"/>
              </a:lnSpc>
              <a:buNone/>
              <a:defRPr/>
            </a:pPr>
            <a:r>
              <a:rPr lang="en-US" sz="2800" b="0" i="0" u="none" strike="noStrike" cap="none" spc="0">
                <a:solidFill>
                  <a:srgbClr val="E5E0DF"/>
                </a:solidFill>
                <a:latin typeface="Roboto Light"/>
                <a:ea typeface="Roboto Light"/>
                <a:cs typeface="Roboto Light"/>
              </a:rPr>
              <a:t>Matrícula: 202313525</a:t>
            </a:r>
            <a:endParaRPr sz="2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2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66646375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9164999" y="0"/>
            <a:ext cx="3026694" cy="6858000"/>
          </a:xfrm>
          <a:prstGeom prst="rect">
            <a:avLst/>
          </a:prstGeom>
        </p:spPr>
      </p:pic>
      <p:sp>
        <p:nvSpPr>
          <p:cNvPr id="540713301" name="Text 0"/>
          <p:cNvSpPr/>
          <p:nvPr/>
        </p:nvSpPr>
        <p:spPr bwMode="auto">
          <a:xfrm>
            <a:off x="661474" y="344983"/>
            <a:ext cx="3394634" cy="5910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3700" b="1">
                <a:solidFill>
                  <a:srgbClr val="F2F2F3"/>
                </a:solidFill>
                <a:latin typeface="Poppins Light"/>
                <a:ea typeface="Poppins Light"/>
                <a:cs typeface="Poppins Light"/>
              </a:rPr>
              <a:t>O que é Big O?</a:t>
            </a:r>
            <a:endParaRPr sz="3700" b="1"/>
          </a:p>
        </p:txBody>
      </p:sp>
      <p:sp>
        <p:nvSpPr>
          <p:cNvPr id="2018714451" name="Text 2"/>
          <p:cNvSpPr/>
          <p:nvPr/>
        </p:nvSpPr>
        <p:spPr bwMode="auto">
          <a:xfrm flipH="0" flipV="0">
            <a:off x="661474" y="1175146"/>
            <a:ext cx="7836774" cy="5260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defRPr/>
            </a:pPr>
            <a:r>
              <a:rPr lang="en-US" sz="2800" b="0" i="0" u="none" strike="noStrike" cap="none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Big O A notação é uma notação matemática que descreve a magnitude aproximada de uma função em um domínio . </a:t>
            </a:r>
            <a:endParaRPr lang="en-US" sz="2800" b="0" i="0" u="none" strike="noStrike" cap="none" spc="0">
              <a:solidFill>
                <a:schemeClr val="bg1"/>
              </a:solidFill>
              <a:latin typeface="Arial"/>
              <a:cs typeface="Arial"/>
            </a:endParaRPr>
          </a:p>
          <a:p>
            <a:pPr>
              <a:defRPr/>
            </a:pPr>
            <a:endParaRPr lang="en-US" sz="2800" b="0" i="0" u="none" strike="noStrike" cap="none" spc="0">
              <a:solidFill>
                <a:schemeClr val="bg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800" b="0" i="0" u="none" strike="noStrike" cap="none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Big O pertence a uma família de notações inventada pelos matemáticos alemães Paul Bachmann e Edmund Landau e expandida por outros, coletivamente chamada de notação de Bachmann-Landau . </a:t>
            </a:r>
            <a:endParaRPr lang="en-US" sz="2800" b="0" i="0" u="none" strike="noStrike" cap="none" spc="0">
              <a:solidFill>
                <a:schemeClr val="bg1"/>
              </a:solidFill>
              <a:latin typeface="Arial"/>
              <a:cs typeface="Arial"/>
            </a:endParaRPr>
          </a:p>
          <a:p>
            <a:pPr>
              <a:defRPr/>
            </a:pPr>
            <a:endParaRPr lang="en-US" sz="2800" b="0" i="0" u="none" strike="noStrike" cap="none" spc="0">
              <a:solidFill>
                <a:schemeClr val="bg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800" b="0" i="0" u="none" strike="noStrike" cap="none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A letra O significa Ordnung , ou seja, a ordem de aproximação .</a:t>
            </a:r>
            <a:endParaRPr sz="2800" b="0" i="0" u="none">
              <a:solidFill>
                <a:srgbClr val="202122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2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20783972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9184050" y="0"/>
            <a:ext cx="3007644" cy="6858000"/>
          </a:xfrm>
          <a:prstGeom prst="rect">
            <a:avLst/>
          </a:prstGeom>
        </p:spPr>
      </p:pic>
      <p:sp>
        <p:nvSpPr>
          <p:cNvPr id="1049379094" name="Text 0"/>
          <p:cNvSpPr/>
          <p:nvPr/>
        </p:nvSpPr>
        <p:spPr bwMode="auto">
          <a:xfrm>
            <a:off x="604324" y="497383"/>
            <a:ext cx="4413128" cy="5971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pt-BR" sz="3700" b="1">
                <a:solidFill>
                  <a:srgbClr val="F2F2F3"/>
                </a:solidFill>
                <a:latin typeface="Poppins Light"/>
                <a:ea typeface="Poppins Light"/>
                <a:cs typeface="Poppins Light"/>
              </a:rPr>
              <a:t>Porque usar</a:t>
            </a:r>
            <a:r>
              <a:rPr lang="en-US" sz="3700" b="1">
                <a:solidFill>
                  <a:srgbClr val="F2F2F3"/>
                </a:solidFill>
                <a:latin typeface="Poppins Light"/>
                <a:ea typeface="Poppins Light"/>
                <a:cs typeface="Poppins Light"/>
              </a:rPr>
              <a:t> Big O?</a:t>
            </a:r>
            <a:endParaRPr sz="3700" b="1"/>
          </a:p>
        </p:txBody>
      </p:sp>
      <p:sp>
        <p:nvSpPr>
          <p:cNvPr id="1483633864" name="Text 2"/>
          <p:cNvSpPr/>
          <p:nvPr/>
        </p:nvSpPr>
        <p:spPr bwMode="auto">
          <a:xfrm flipH="0" flipV="0">
            <a:off x="661474" y="2797571"/>
            <a:ext cx="6296859" cy="17363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defRPr/>
            </a:pPr>
            <a:endParaRPr/>
          </a:p>
        </p:txBody>
      </p:sp>
      <p:sp>
        <p:nvSpPr>
          <p:cNvPr id="2018696746" name="Text 6"/>
          <p:cNvSpPr/>
          <p:nvPr/>
        </p:nvSpPr>
        <p:spPr bwMode="auto">
          <a:xfrm flipH="0" flipV="0">
            <a:off x="604324" y="1778495"/>
            <a:ext cx="7531974" cy="49080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defRPr/>
            </a:pPr>
            <a:r>
              <a:rPr sz="3600" b="0" i="0" u="none">
                <a:solidFill>
                  <a:schemeClr val="bg1"/>
                </a:solidFill>
                <a:latin typeface="Liberation Sans"/>
                <a:ea typeface="Liberation Sans"/>
                <a:cs typeface="Liberation Sans"/>
              </a:rPr>
              <a:t>Big O é uma descrição do algoritmo</a:t>
            </a:r>
            <a:r>
              <a:rPr lang="pt-BR" sz="3600" b="0" i="0" u="none">
                <a:solidFill>
                  <a:schemeClr val="bg1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lang="pt-BR" sz="3600" b="0" i="0" u="none">
                <a:solidFill>
                  <a:schemeClr val="bg1"/>
                </a:solidFill>
                <a:latin typeface="Liberation Sans"/>
                <a:ea typeface="Liberation Sans"/>
                <a:cs typeface="Liberation Sans"/>
              </a:rPr>
              <a:t>e c</a:t>
            </a:r>
            <a:r>
              <a:rPr sz="3600" b="0" i="0" u="none">
                <a:solidFill>
                  <a:schemeClr val="bg1"/>
                </a:solidFill>
                <a:latin typeface="Liberation Sans"/>
                <a:ea typeface="Liberation Sans"/>
                <a:cs typeface="Liberation Sans"/>
              </a:rPr>
              <a:t>alcular o big O não é um exercício acadêmico abstrato. </a:t>
            </a:r>
            <a:endParaRPr sz="3600" b="0" i="0" u="none">
              <a:solidFill>
                <a:schemeClr val="bg1"/>
              </a:solidFill>
              <a:latin typeface="Liberation Sans"/>
              <a:ea typeface="Liberation Sans"/>
              <a:cs typeface="Liberation Sans"/>
            </a:endParaRPr>
          </a:p>
          <a:p>
            <a:pPr>
              <a:defRPr/>
            </a:pPr>
            <a:r>
              <a:rPr sz="3600" b="0" i="0" u="none">
                <a:solidFill>
                  <a:schemeClr val="bg1"/>
                </a:solidFill>
                <a:latin typeface="Liberation Sans"/>
                <a:ea typeface="Liberation Sans"/>
                <a:cs typeface="Liberation Sans"/>
              </a:rPr>
              <a:t>É assim que descobrimos se nossos programas vão desperdiçar eletricidade e o tempo dos nossos usuários enquanto aguardam.</a:t>
            </a:r>
            <a:br>
              <a:rPr sz="3600" b="0" i="0" u="none">
                <a:solidFill>
                  <a:schemeClr val="bg1"/>
                </a:solidFill>
                <a:latin typeface="Liberation Sans"/>
                <a:ea typeface="Liberation Sans"/>
                <a:cs typeface="Liberation Sans"/>
              </a:rPr>
            </a:br>
            <a:endParaRPr sz="3600">
              <a:solidFill>
                <a:schemeClr val="bg1"/>
              </a:solidFill>
            </a:endParaRPr>
          </a:p>
        </p:txBody>
      </p:sp>
      <p:pic>
        <p:nvPicPr>
          <p:cNvPr id="1415612727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8574124" y="0"/>
            <a:ext cx="3617569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3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9621612" name="Text 0"/>
          <p:cNvSpPr/>
          <p:nvPr/>
        </p:nvSpPr>
        <p:spPr bwMode="auto">
          <a:xfrm>
            <a:off x="661474" y="588366"/>
            <a:ext cx="4359897" cy="5910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3700" b="1">
                <a:solidFill>
                  <a:srgbClr val="F2F2F3"/>
                </a:solidFill>
                <a:latin typeface="Poppins Light"/>
                <a:ea typeface="Poppins Light"/>
                <a:cs typeface="Poppins Light"/>
              </a:rPr>
              <a:t>O que é O(n log n)?</a:t>
            </a:r>
            <a:endParaRPr sz="3700" b="1"/>
          </a:p>
        </p:txBody>
      </p:sp>
      <p:sp>
        <p:nvSpPr>
          <p:cNvPr id="854302769" name="Text 1"/>
          <p:cNvSpPr/>
          <p:nvPr/>
        </p:nvSpPr>
        <p:spPr bwMode="auto">
          <a:xfrm>
            <a:off x="1648261" y="2988666"/>
            <a:ext cx="756" cy="2471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  <a:defRPr/>
            </a:pPr>
            <a:endParaRPr lang="en-US" sz="1550"/>
          </a:p>
        </p:txBody>
      </p:sp>
      <p:sp>
        <p:nvSpPr>
          <p:cNvPr id="36049458" name="Text 3"/>
          <p:cNvSpPr/>
          <p:nvPr/>
        </p:nvSpPr>
        <p:spPr bwMode="auto">
          <a:xfrm>
            <a:off x="2635444" y="4626773"/>
            <a:ext cx="1491444" cy="4935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  <a:defRPr/>
            </a:pPr>
            <a:endParaRPr lang="en-US" sz="1550"/>
          </a:p>
        </p:txBody>
      </p:sp>
      <p:sp>
        <p:nvSpPr>
          <p:cNvPr id="1418408756" name="Text 4"/>
          <p:cNvSpPr/>
          <p:nvPr/>
        </p:nvSpPr>
        <p:spPr bwMode="auto">
          <a:xfrm>
            <a:off x="8032250" y="2163861"/>
            <a:ext cx="756" cy="295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endParaRPr lang="en-US" sz="1850"/>
          </a:p>
        </p:txBody>
      </p:sp>
      <p:sp>
        <p:nvSpPr>
          <p:cNvPr id="302982820" name="Text 5"/>
          <p:cNvSpPr/>
          <p:nvPr/>
        </p:nvSpPr>
        <p:spPr bwMode="auto">
          <a:xfrm flipH="0" flipV="0">
            <a:off x="7714120" y="2099031"/>
            <a:ext cx="4184719" cy="4071624"/>
          </a:xfrm>
          <a:prstGeom prst="rect">
            <a:avLst/>
          </a:prstGeom>
          <a:noFill/>
          <a:ln/>
        </p:spPr>
        <p:txBody>
          <a:bodyPr vertOverflow="overflow" horzOverflow="overflow" vert="horz" wrap="square" lIns="0" tIns="0" rIns="0" bIns="0" numCol="1" spcCol="0" rtlCol="0" fromWordArt="0" anchor="t" anchorCtr="0" forceAA="0" upright="0" compatLnSpc="0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  <a:defRPr/>
            </a:pPr>
            <a:r>
              <a:rPr lang="en-US" sz="2200" b="1">
                <a:solidFill>
                  <a:schemeClr val="bg1"/>
                </a:solidFill>
                <a:latin typeface="Roboto Bold"/>
                <a:ea typeface="Roboto Bold"/>
                <a:cs typeface="Roboto Bold"/>
              </a:rPr>
              <a:t>n</a:t>
            </a:r>
            <a:r>
              <a:rPr lang="en-US" sz="2200">
                <a:solidFill>
                  <a:schemeClr val="bg1"/>
                </a:solidFill>
                <a:latin typeface="Roboto Light"/>
                <a:ea typeface="Roboto Light"/>
                <a:cs typeface="Roboto Light"/>
              </a:rPr>
              <a:t> = quantidade de dados que você tem</a:t>
            </a:r>
            <a:endParaRPr sz="2200">
              <a:solidFill>
                <a:schemeClr val="bg1"/>
              </a:solidFill>
            </a:endParaRPr>
          </a:p>
          <a:p>
            <a:pPr marL="294639" indent="-294639" algn="l">
              <a:lnSpc>
                <a:spcPct val="133000"/>
              </a:lnSpc>
              <a:buSzPct val="100000"/>
              <a:buChar char="•"/>
              <a:defRPr/>
            </a:pPr>
            <a:endParaRPr sz="2200"/>
          </a:p>
          <a:p>
            <a:pPr marL="294640" indent="-294640" algn="l">
              <a:lnSpc>
                <a:spcPct val="133000"/>
              </a:lnSpc>
              <a:buSzPct val="100000"/>
              <a:buChar char="•"/>
              <a:defRPr/>
            </a:pPr>
            <a:r>
              <a:rPr lang="en-US" sz="2200" b="1">
                <a:solidFill>
                  <a:schemeClr val="bg1"/>
                </a:solidFill>
                <a:latin typeface="Roboto Bold"/>
                <a:ea typeface="Roboto Bold"/>
                <a:cs typeface="Roboto Bold"/>
              </a:rPr>
              <a:t>log n</a:t>
            </a:r>
            <a:r>
              <a:rPr lang="en-US" sz="2200">
                <a:solidFill>
                  <a:srgbClr val="E5E0DF"/>
                </a:solidFill>
                <a:latin typeface="Roboto Light"/>
                <a:ea typeface="Roboto Light"/>
                <a:cs typeface="Roboto Light"/>
              </a:rPr>
              <a:t> = dividir os dados pela metade várias vezes</a:t>
            </a:r>
            <a:endParaRPr lang="en-US" sz="2200">
              <a:solidFill>
                <a:srgbClr val="E5E0DF"/>
              </a:solidFill>
              <a:latin typeface="Roboto Light"/>
              <a:ea typeface="Roboto Light"/>
              <a:cs typeface="Roboto Light"/>
            </a:endParaRPr>
          </a:p>
          <a:p>
            <a:pPr marL="294639" indent="-294639" algn="l">
              <a:lnSpc>
                <a:spcPct val="133000"/>
              </a:lnSpc>
              <a:buSzPct val="100000"/>
              <a:buChar char="•"/>
              <a:defRPr/>
            </a:pPr>
            <a:endParaRPr sz="2200">
              <a:solidFill>
                <a:schemeClr val="bg1"/>
              </a:solidFill>
            </a:endParaRPr>
          </a:p>
          <a:p>
            <a:pPr marL="294640" indent="-294640" algn="l">
              <a:lnSpc>
                <a:spcPct val="133000"/>
              </a:lnSpc>
              <a:buSzPct val="100000"/>
              <a:buChar char="•"/>
              <a:defRPr/>
            </a:pPr>
            <a:r>
              <a:rPr lang="en-US" sz="2200" b="1">
                <a:solidFill>
                  <a:schemeClr val="bg1"/>
                </a:solidFill>
                <a:latin typeface="Roboto Bold"/>
                <a:ea typeface="Roboto Bold"/>
                <a:cs typeface="Roboto Bold"/>
              </a:rPr>
              <a:t>O(n log n)</a:t>
            </a:r>
            <a:r>
              <a:rPr lang="en-US" sz="2200">
                <a:solidFill>
                  <a:schemeClr val="bg1"/>
                </a:solidFill>
                <a:latin typeface="Roboto Light"/>
                <a:ea typeface="Roboto Light"/>
                <a:cs typeface="Roboto Light"/>
              </a:rPr>
              <a:t> =</a:t>
            </a:r>
            <a:r>
              <a:rPr sz="22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combina os dois: é mais rápido que O(n²), mas um pouco mais custoso que O(n)</a:t>
            </a:r>
            <a:endParaRPr sz="2200" b="0" i="0" u="none">
              <a:solidFill>
                <a:schemeClr val="bg1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649929828" name="Text 7"/>
          <p:cNvSpPr/>
          <p:nvPr/>
        </p:nvSpPr>
        <p:spPr bwMode="auto">
          <a:xfrm>
            <a:off x="8646499" y="4419898"/>
            <a:ext cx="270096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  <a:defRPr/>
            </a:pPr>
            <a:endParaRPr lang="en-US" sz="1450"/>
          </a:p>
        </p:txBody>
      </p:sp>
      <p:pic>
        <p:nvPicPr>
          <p:cNvPr id="931949567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2481166" y="2891133"/>
            <a:ext cx="1800000" cy="1800000"/>
          </a:xfrm>
          <a:prstGeom prst="rect">
            <a:avLst/>
          </a:prstGeom>
        </p:spPr>
      </p:pic>
      <p:pic>
        <p:nvPicPr>
          <p:cNvPr id="429320661" name="Image 0" descr="preencoded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356298" y="1755321"/>
            <a:ext cx="5118666" cy="4381798"/>
          </a:xfrm>
          <a:prstGeom prst="rect">
            <a:avLst/>
          </a:prstGeom>
        </p:spPr>
      </p:pic>
      <p:pic>
        <p:nvPicPr>
          <p:cNvPr id="447362108" name="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 flipH="0" flipV="0">
            <a:off x="356298" y="1755321"/>
            <a:ext cx="6847548" cy="4759045"/>
          </a:xfrm>
          <a:prstGeom prst="rect">
            <a:avLst/>
          </a:prstGeom>
        </p:spPr>
      </p:pic>
      <p:pic>
        <p:nvPicPr>
          <p:cNvPr id="2048941472" name="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 flipH="0" flipV="0">
            <a:off x="9066552" y="6445249"/>
            <a:ext cx="3063874" cy="38109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4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3622270" name="Text 0"/>
          <p:cNvSpPr/>
          <p:nvPr/>
        </p:nvSpPr>
        <p:spPr bwMode="auto">
          <a:xfrm>
            <a:off x="661473" y="744593"/>
            <a:ext cx="4570065" cy="5910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3700" b="1">
                <a:solidFill>
                  <a:srgbClr val="F2F2F3"/>
                </a:solidFill>
                <a:latin typeface="Poppins Light"/>
                <a:ea typeface="Poppins Light"/>
                <a:cs typeface="Poppins Light"/>
              </a:rPr>
              <a:t>O que é a Rede Tor?</a:t>
            </a:r>
            <a:endParaRPr sz="3700" b="1"/>
          </a:p>
        </p:txBody>
      </p:sp>
      <p:pic>
        <p:nvPicPr>
          <p:cNvPr id="1680829093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704946" y="1594818"/>
            <a:ext cx="2967723" cy="1834180"/>
          </a:xfrm>
          <a:prstGeom prst="rect">
            <a:avLst/>
          </a:prstGeom>
        </p:spPr>
      </p:pic>
      <p:sp>
        <p:nvSpPr>
          <p:cNvPr id="592784504" name="Text 1"/>
          <p:cNvSpPr/>
          <p:nvPr/>
        </p:nvSpPr>
        <p:spPr bwMode="auto">
          <a:xfrm>
            <a:off x="399205" y="3845288"/>
            <a:ext cx="3579206" cy="2959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2600" b="1">
                <a:solidFill>
                  <a:srgbClr val="E5E0DF"/>
                </a:solidFill>
                <a:latin typeface="Poppins Light"/>
                <a:ea typeface="Poppins Light"/>
                <a:cs typeface="Poppins Light"/>
              </a:rPr>
              <a:t>Camadas como cebola</a:t>
            </a:r>
            <a:endParaRPr sz="2600" b="1"/>
          </a:p>
        </p:txBody>
      </p:sp>
      <p:sp>
        <p:nvSpPr>
          <p:cNvPr id="620174417" name="Text 2"/>
          <p:cNvSpPr/>
          <p:nvPr/>
        </p:nvSpPr>
        <p:spPr bwMode="auto">
          <a:xfrm flipH="0" flipV="0">
            <a:off x="661474" y="4403228"/>
            <a:ext cx="3054667" cy="1801627"/>
          </a:xfrm>
          <a:prstGeom prst="rect">
            <a:avLst/>
          </a:prstGeom>
          <a:noFill/>
          <a:ln/>
        </p:spPr>
        <p:txBody>
          <a:bodyPr vertOverflow="overflow" horzOverflow="overflow" vert="horz" wrap="square" lIns="0" tIns="0" rIns="0" bIns="0" numCol="1" spcCol="0" rtlCol="0" fromWordArt="0" anchor="t" anchorCtr="0" forceAA="0" upright="0" compatLnSpc="0">
            <a:normAutofit fontScale="80000" lnSpcReduction="4000"/>
          </a:bodyPr>
          <a:lstStyle/>
          <a:p>
            <a:pPr marL="0" indent="0" algn="ctr">
              <a:lnSpc>
                <a:spcPct val="133000"/>
              </a:lnSpc>
              <a:buNone/>
              <a:defRPr/>
            </a:pPr>
            <a:r>
              <a:rPr lang="en-US" sz="2200">
                <a:solidFill>
                  <a:srgbClr val="E5E0DF"/>
                </a:solidFill>
                <a:latin typeface="Roboto Light"/>
                <a:ea typeface="Roboto Light"/>
                <a:cs typeface="Roboto Light"/>
              </a:rPr>
              <a:t>Cada computador criptografa uma camada </a:t>
            </a:r>
            <a:r>
              <a:rPr lang="en-US" sz="2200">
                <a:solidFill>
                  <a:srgbClr val="E5E0DF"/>
                </a:solidFill>
                <a:latin typeface="Roboto Light"/>
                <a:ea typeface="Roboto Light"/>
                <a:cs typeface="Roboto Light"/>
              </a:rPr>
              <a:t>dos </a:t>
            </a:r>
            <a:r>
              <a:rPr lang="en-US" sz="2200">
                <a:solidFill>
                  <a:srgbClr val="E5E0DF"/>
                </a:solidFill>
                <a:latin typeface="Roboto Light"/>
                <a:ea typeface="Roboto Light"/>
                <a:cs typeface="Roboto Light"/>
              </a:rPr>
              <a:t>seus dados — exatamente como uma cebola.</a:t>
            </a:r>
            <a:endParaRPr sz="2200"/>
          </a:p>
        </p:txBody>
      </p:sp>
      <p:pic>
        <p:nvPicPr>
          <p:cNvPr id="73442491" name="Image 1" descr="preencoded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4445285" y="1619249"/>
            <a:ext cx="2928193" cy="1809749"/>
          </a:xfrm>
          <a:prstGeom prst="rect">
            <a:avLst/>
          </a:prstGeom>
        </p:spPr>
      </p:pic>
      <p:sp>
        <p:nvSpPr>
          <p:cNvPr id="1297437845" name="Text 3"/>
          <p:cNvSpPr/>
          <p:nvPr/>
        </p:nvSpPr>
        <p:spPr bwMode="auto">
          <a:xfrm>
            <a:off x="4633777" y="3846008"/>
            <a:ext cx="2551209" cy="297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  <a:defRPr/>
            </a:pPr>
            <a:r>
              <a:rPr lang="en-US" sz="2600" b="1">
                <a:solidFill>
                  <a:srgbClr val="E5E0DF"/>
                </a:solidFill>
                <a:latin typeface="Poppins Light"/>
                <a:ea typeface="Poppins Light"/>
                <a:cs typeface="Poppins Light"/>
              </a:rPr>
              <a:t>3 computadores </a:t>
            </a:r>
            <a:endParaRPr sz="2600" b="1"/>
          </a:p>
        </p:txBody>
      </p:sp>
      <p:sp>
        <p:nvSpPr>
          <p:cNvPr id="166384685" name="Text 4"/>
          <p:cNvSpPr/>
          <p:nvPr/>
        </p:nvSpPr>
        <p:spPr bwMode="auto">
          <a:xfrm flipH="0" flipV="0">
            <a:off x="4363134" y="4403228"/>
            <a:ext cx="3465425" cy="1883270"/>
          </a:xfrm>
          <a:prstGeom prst="rect">
            <a:avLst/>
          </a:prstGeom>
          <a:noFill/>
          <a:ln/>
        </p:spPr>
        <p:txBody>
          <a:bodyPr vertOverflow="overflow" horzOverflow="overflow" vert="horz" wrap="square" lIns="0" tIns="0" rIns="0" bIns="0" numCol="1" spcCol="0" rtlCol="0" fromWordArt="0" anchor="t" anchorCtr="0" forceAA="0" upright="0" compatLnSpc="0">
            <a:normAutofit/>
          </a:bodyPr>
          <a:lstStyle/>
          <a:p>
            <a:pPr marL="0" indent="0" algn="ctr">
              <a:lnSpc>
                <a:spcPct val="133000"/>
              </a:lnSpc>
              <a:buNone/>
              <a:defRPr/>
            </a:pPr>
            <a:r>
              <a:rPr lang="en-US" sz="1800">
                <a:solidFill>
                  <a:srgbClr val="E5E0DF"/>
                </a:solidFill>
                <a:latin typeface="Roboto Light"/>
                <a:ea typeface="Roboto Light"/>
                <a:cs typeface="Roboto Light"/>
              </a:rPr>
              <a:t>Seus dados passam por 3 computadores antes de chegar ao destino.</a:t>
            </a:r>
            <a:endParaRPr sz="1800"/>
          </a:p>
        </p:txBody>
      </p:sp>
      <p:pic>
        <p:nvPicPr>
          <p:cNvPr id="1602350800" name="Image 2" descr="preencoded.png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 flipH="0" flipV="0">
            <a:off x="8333408" y="1619249"/>
            <a:ext cx="2928193" cy="1809749"/>
          </a:xfrm>
          <a:prstGeom prst="rect">
            <a:avLst/>
          </a:prstGeom>
        </p:spPr>
      </p:pic>
      <p:sp>
        <p:nvSpPr>
          <p:cNvPr id="54662178" name="Text 5"/>
          <p:cNvSpPr/>
          <p:nvPr/>
        </p:nvSpPr>
        <p:spPr bwMode="auto">
          <a:xfrm flipH="0" flipV="0">
            <a:off x="8064792" y="3846008"/>
            <a:ext cx="3465425" cy="2959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2600" b="1">
                <a:solidFill>
                  <a:srgbClr val="E5E0DF"/>
                </a:solidFill>
                <a:latin typeface="Poppins Light"/>
                <a:ea typeface="Poppins Light"/>
                <a:cs typeface="Poppins Light"/>
              </a:rPr>
              <a:t>Ninguém sabe quem</a:t>
            </a:r>
            <a:endParaRPr sz="2600" b="1"/>
          </a:p>
        </p:txBody>
      </p:sp>
      <p:sp>
        <p:nvSpPr>
          <p:cNvPr id="820981355" name="Text 6"/>
          <p:cNvSpPr/>
          <p:nvPr/>
        </p:nvSpPr>
        <p:spPr bwMode="auto">
          <a:xfrm flipH="0" flipV="0">
            <a:off x="8064793" y="4403228"/>
            <a:ext cx="3465425" cy="1801627"/>
          </a:xfrm>
          <a:prstGeom prst="rect">
            <a:avLst/>
          </a:prstGeom>
          <a:noFill/>
          <a:ln/>
        </p:spPr>
        <p:txBody>
          <a:bodyPr vertOverflow="overflow" horzOverflow="overflow" vert="horz" wrap="square" lIns="0" tIns="0" rIns="0" bIns="0" numCol="1" spcCol="0" rtlCol="0" fromWordArt="0" anchor="t" anchorCtr="0" forceAA="0" upright="0" compatLnSpc="0">
            <a:normAutofit/>
          </a:bodyPr>
          <a:lstStyle/>
          <a:p>
            <a:pPr marL="0" indent="0" algn="ctr">
              <a:lnSpc>
                <a:spcPct val="133000"/>
              </a:lnSpc>
              <a:buNone/>
              <a:defRPr/>
            </a:pPr>
            <a:r>
              <a:rPr lang="en-US" sz="1800">
                <a:solidFill>
                  <a:srgbClr val="E5E0DF"/>
                </a:solidFill>
                <a:latin typeface="Roboto Light"/>
                <a:ea typeface="Roboto Light"/>
                <a:cs typeface="Roboto Light"/>
              </a:rPr>
              <a:t>No final, ninguém consegue saber quem enviou os dados de verdade.</a:t>
            </a:r>
            <a:endParaRPr sz="1800"/>
          </a:p>
        </p:txBody>
      </p:sp>
      <p:pic>
        <p:nvPicPr>
          <p:cNvPr id="1720940647" name="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 flipH="0" flipV="0">
            <a:off x="9066552" y="6445249"/>
            <a:ext cx="3063874" cy="38109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5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903279" name="Text 0"/>
          <p:cNvSpPr/>
          <p:nvPr/>
        </p:nvSpPr>
        <p:spPr bwMode="auto">
          <a:xfrm>
            <a:off x="423349" y="530274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3700">
                <a:solidFill>
                  <a:srgbClr val="F2F2F3"/>
                </a:solidFill>
                <a:latin typeface="Poppins Light"/>
                <a:ea typeface="Poppins Light"/>
                <a:cs typeface="Poppins Light"/>
              </a:rPr>
              <a:t>Onde aparece O(n log n) na Tor?</a:t>
            </a:r>
            <a:endParaRPr lang="en-US" sz="3700"/>
          </a:p>
        </p:txBody>
      </p:sp>
      <p:sp>
        <p:nvSpPr>
          <p:cNvPr id="1155372028" name="Text 2"/>
          <p:cNvSpPr/>
          <p:nvPr/>
        </p:nvSpPr>
        <p:spPr bwMode="auto">
          <a:xfrm flipH="0" flipV="0">
            <a:off x="7097749" y="1555749"/>
            <a:ext cx="4810124" cy="1333499"/>
          </a:xfrm>
          <a:prstGeom prst="rect">
            <a:avLst/>
          </a:prstGeom>
          <a:noFill/>
          <a:ln/>
        </p:spPr>
        <p:txBody>
          <a:bodyPr vertOverflow="overflow" horzOverflow="overflow" vert="horz" wrap="square" lIns="0" tIns="0" rIns="0" bIns="0" numCol="1" spcCol="0" rtlCol="0" fromWordArt="0" anchor="t" anchorCtr="0" forceAA="0" upright="0" compatLnSpc="0">
            <a:normAutofit/>
          </a:bodyPr>
          <a:lstStyle/>
          <a:p>
            <a:pPr marL="0" indent="0" algn="l">
              <a:lnSpc>
                <a:spcPct val="133000"/>
              </a:lnSpc>
              <a:buNone/>
              <a:defRPr/>
            </a:pPr>
            <a:r>
              <a:rPr lang="en-US" sz="2200">
                <a:solidFill>
                  <a:srgbClr val="E5E0DF"/>
                </a:solidFill>
                <a:latin typeface="Roboto Light"/>
                <a:ea typeface="Roboto Light"/>
                <a:cs typeface="Roboto Light"/>
              </a:rPr>
              <a:t>A Tor precisa decidir </a:t>
            </a:r>
            <a:r>
              <a:rPr lang="en-US" sz="2200" b="1">
                <a:solidFill>
                  <a:srgbClr val="E5E0DF"/>
                </a:solidFill>
                <a:latin typeface="Roboto Bold"/>
                <a:ea typeface="Roboto Bold"/>
                <a:cs typeface="Roboto Bold"/>
              </a:rPr>
              <a:t>qual caminho usar</a:t>
            </a:r>
            <a:r>
              <a:rPr lang="en-US" sz="2200">
                <a:solidFill>
                  <a:srgbClr val="E5E0DF"/>
                </a:solidFill>
                <a:latin typeface="Roboto Light"/>
                <a:ea typeface="Roboto Light"/>
                <a:cs typeface="Roboto Light"/>
              </a:rPr>
              <a:t> para enviar seus dados com segurança.</a:t>
            </a:r>
            <a:endParaRPr sz="2200"/>
          </a:p>
        </p:txBody>
      </p:sp>
      <p:sp>
        <p:nvSpPr>
          <p:cNvPr id="1871273673" name="Text 3"/>
          <p:cNvSpPr/>
          <p:nvPr/>
        </p:nvSpPr>
        <p:spPr bwMode="auto">
          <a:xfrm flipH="0" flipV="0">
            <a:off x="7032125" y="3016249"/>
            <a:ext cx="4875748" cy="2071190"/>
          </a:xfrm>
          <a:prstGeom prst="rect">
            <a:avLst/>
          </a:prstGeom>
          <a:noFill/>
          <a:ln/>
        </p:spPr>
        <p:txBody>
          <a:bodyPr vertOverflow="overflow" horzOverflow="overflow" vert="horz" wrap="square" lIns="0" tIns="0" rIns="0" bIns="0" numCol="1" spcCol="0" rtlCol="0" fromWordArt="0" anchor="t" anchorCtr="0" forceAA="0" upright="0" compatLnSpc="0">
            <a:normAutofit fontScale="80000" lnSpcReduction="4000"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  <a:defRPr/>
            </a:pPr>
            <a:r>
              <a:rPr lang="en-US" sz="2400">
                <a:solidFill>
                  <a:srgbClr val="E5E0DF"/>
                </a:solidFill>
                <a:latin typeface="Roboto Light"/>
                <a:ea typeface="Roboto Light"/>
                <a:cs typeface="Roboto Light"/>
              </a:rPr>
              <a:t>Ela ordena os computadores disponíveis</a:t>
            </a:r>
            <a:endParaRPr sz="4800"/>
          </a:p>
          <a:p>
            <a:pPr marL="294639" indent="-294639" algn="l">
              <a:lnSpc>
                <a:spcPct val="133000"/>
              </a:lnSpc>
              <a:buSzPct val="100000"/>
              <a:buChar char="•"/>
              <a:defRPr/>
            </a:pPr>
            <a:endParaRPr sz="2200"/>
          </a:p>
          <a:p>
            <a:pPr marL="294640" indent="-294640" algn="l">
              <a:lnSpc>
                <a:spcPct val="133000"/>
              </a:lnSpc>
              <a:buSzPct val="100000"/>
              <a:buChar char="•"/>
              <a:defRPr/>
            </a:pPr>
            <a:r>
              <a:rPr lang="en-US" sz="2200">
                <a:solidFill>
                  <a:srgbClr val="E5E0DF"/>
                </a:solidFill>
                <a:latin typeface="Roboto Light"/>
                <a:ea typeface="Roboto Light"/>
                <a:cs typeface="Roboto Light"/>
              </a:rPr>
              <a:t>Escolhe o caminho mais rápido e seguro</a:t>
            </a:r>
            <a:endParaRPr lang="en-US" sz="3600">
              <a:solidFill>
                <a:srgbClr val="E5E0DF"/>
              </a:solidFill>
              <a:latin typeface="Roboto Light"/>
              <a:ea typeface="Roboto Light"/>
              <a:cs typeface="Roboto Light"/>
            </a:endParaRPr>
          </a:p>
          <a:p>
            <a:pPr marL="294639" indent="-294639" algn="l">
              <a:lnSpc>
                <a:spcPct val="133000"/>
              </a:lnSpc>
              <a:buSzPct val="100000"/>
              <a:buChar char="•"/>
              <a:defRPr/>
            </a:pPr>
            <a:endParaRPr sz="2200"/>
          </a:p>
          <a:p>
            <a:pPr marL="294640" indent="-294640" algn="l">
              <a:lnSpc>
                <a:spcPct val="133000"/>
              </a:lnSpc>
              <a:buSzPct val="100000"/>
              <a:buChar char="•"/>
              <a:defRPr/>
            </a:pPr>
            <a:r>
              <a:rPr lang="en-US" sz="2200">
                <a:solidFill>
                  <a:srgbClr val="E5E0DF"/>
                </a:solidFill>
                <a:latin typeface="Roboto Light"/>
                <a:ea typeface="Roboto Light"/>
                <a:cs typeface="Roboto Light"/>
              </a:rPr>
              <a:t>Essa ordenação é </a:t>
            </a:r>
            <a:r>
              <a:rPr lang="en-US" sz="2600" b="1">
                <a:solidFill>
                  <a:srgbClr val="E5E0DF"/>
                </a:solidFill>
                <a:latin typeface="Roboto Bold"/>
                <a:ea typeface="Roboto Bold"/>
                <a:cs typeface="Roboto Bold"/>
              </a:rPr>
              <a:t>O(n log n)</a:t>
            </a:r>
            <a:endParaRPr lang="en-US" sz="2600" b="1">
              <a:solidFill>
                <a:srgbClr val="E5E0DF"/>
              </a:solidFill>
              <a:latin typeface="Roboto Bold"/>
              <a:ea typeface="Roboto Bold"/>
              <a:cs typeface="Roboto Bold"/>
            </a:endParaRPr>
          </a:p>
        </p:txBody>
      </p:sp>
      <p:sp>
        <p:nvSpPr>
          <p:cNvPr id="1375619506" name="Text 4"/>
          <p:cNvSpPr/>
          <p:nvPr/>
        </p:nvSpPr>
        <p:spPr bwMode="auto">
          <a:xfrm flipH="0" flipV="0">
            <a:off x="7032125" y="5257501"/>
            <a:ext cx="4875748" cy="1235372"/>
          </a:xfrm>
          <a:prstGeom prst="rect">
            <a:avLst/>
          </a:prstGeom>
          <a:noFill/>
          <a:ln/>
        </p:spPr>
        <p:txBody>
          <a:bodyPr vertOverflow="overflow" horzOverflow="overflow" vert="horz" wrap="square" lIns="0" tIns="0" rIns="0" bIns="0" numCol="1" spcCol="0" rtlCol="0" fromWordArt="0" anchor="t" anchorCtr="0" forceAA="0" upright="0" compatLnSpc="0">
            <a:normAutofit fontScale="85000" lnSpcReduction="3000"/>
          </a:bodyPr>
          <a:lstStyle/>
          <a:p>
            <a:pPr>
              <a:defRPr/>
            </a:pPr>
            <a:r>
              <a:rPr sz="2400" b="0" i="0" u="none">
                <a:solidFill>
                  <a:schemeClr val="bg1"/>
                </a:solidFill>
                <a:latin typeface="roboto light"/>
                <a:ea typeface="roboto light"/>
                <a:cs typeface="roboto light"/>
              </a:rPr>
              <a:t>A Tor escolhe os relays de forma aleatória, mas dando mais chance para os mais rápidos e adequados para cada posição (Guard, Middle e Exit).</a:t>
            </a:r>
            <a:endParaRPr sz="2400">
              <a:solidFill>
                <a:schemeClr val="bg1"/>
              </a:solidFill>
              <a:latin typeface="roboto light"/>
              <a:cs typeface="roboto light"/>
            </a:endParaRPr>
          </a:p>
        </p:txBody>
      </p:sp>
      <p:pic>
        <p:nvPicPr>
          <p:cNvPr id="595832893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9066552" y="6445249"/>
            <a:ext cx="3063874" cy="381097"/>
          </a:xfrm>
          <a:prstGeom prst="rect">
            <a:avLst/>
          </a:prstGeom>
        </p:spPr>
      </p:pic>
      <p:pic>
        <p:nvPicPr>
          <p:cNvPr id="707380723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423349" y="2222499"/>
            <a:ext cx="6226040" cy="349393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6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3274546" name="Text 0"/>
          <p:cNvSpPr/>
          <p:nvPr/>
        </p:nvSpPr>
        <p:spPr bwMode="auto">
          <a:xfrm>
            <a:off x="661474" y="464144"/>
            <a:ext cx="7184084" cy="5985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3700">
                <a:solidFill>
                  <a:srgbClr val="F2F2F3"/>
                </a:solidFill>
                <a:latin typeface="Poppins Light"/>
                <a:ea typeface="Poppins Light"/>
                <a:cs typeface="Poppins Light"/>
              </a:rPr>
              <a:t>Por que O(n log n) é </a:t>
            </a:r>
            <a:r>
              <a:rPr lang="pt-BR" sz="3700">
                <a:solidFill>
                  <a:srgbClr val="F2F2F3"/>
                </a:solidFill>
                <a:latin typeface="Poppins Light"/>
                <a:ea typeface="Poppins Light"/>
                <a:cs typeface="Poppins Light"/>
              </a:rPr>
              <a:t>tão eficiente</a:t>
            </a:r>
            <a:r>
              <a:rPr lang="en-US" sz="3700">
                <a:solidFill>
                  <a:srgbClr val="F2F2F3"/>
                </a:solidFill>
                <a:latin typeface="Poppins Light"/>
                <a:ea typeface="Poppins Light"/>
                <a:cs typeface="Poppins Light"/>
              </a:rPr>
              <a:t>?</a:t>
            </a:r>
            <a:endParaRPr lang="en-US" sz="3700"/>
          </a:p>
        </p:txBody>
      </p:sp>
      <p:sp>
        <p:nvSpPr>
          <p:cNvPr id="1022593338" name="Text 2"/>
          <p:cNvSpPr/>
          <p:nvPr/>
        </p:nvSpPr>
        <p:spPr bwMode="auto">
          <a:xfrm>
            <a:off x="856831" y="3359248"/>
            <a:ext cx="756" cy="2959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endParaRPr lang="en-US" sz="1850"/>
          </a:p>
        </p:txBody>
      </p:sp>
      <p:sp>
        <p:nvSpPr>
          <p:cNvPr id="534661261" name="Text 3"/>
          <p:cNvSpPr/>
          <p:nvPr/>
        </p:nvSpPr>
        <p:spPr bwMode="auto">
          <a:xfrm>
            <a:off x="809206" y="3767931"/>
            <a:ext cx="3106163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  <a:defRPr/>
            </a:pPr>
            <a:endParaRPr lang="en-US" sz="1450"/>
          </a:p>
        </p:txBody>
      </p:sp>
      <p:sp>
        <p:nvSpPr>
          <p:cNvPr id="260957427" name="Text 5"/>
          <p:cNvSpPr/>
          <p:nvPr/>
        </p:nvSpPr>
        <p:spPr bwMode="auto">
          <a:xfrm>
            <a:off x="4542715" y="3359248"/>
            <a:ext cx="756" cy="2974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endParaRPr lang="en-US" sz="1850"/>
          </a:p>
        </p:txBody>
      </p:sp>
      <p:sp>
        <p:nvSpPr>
          <p:cNvPr id="1226673923" name="Text 8"/>
          <p:cNvSpPr/>
          <p:nvPr/>
        </p:nvSpPr>
        <p:spPr bwMode="auto">
          <a:xfrm>
            <a:off x="8228599" y="3359248"/>
            <a:ext cx="756" cy="295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endParaRPr lang="en-US" sz="1850"/>
          </a:p>
        </p:txBody>
      </p:sp>
      <p:sp>
        <p:nvSpPr>
          <p:cNvPr id="1941608264" name="Text 9"/>
          <p:cNvSpPr/>
          <p:nvPr/>
        </p:nvSpPr>
        <p:spPr bwMode="auto">
          <a:xfrm>
            <a:off x="8228600" y="3767931"/>
            <a:ext cx="3106163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  <a:defRPr/>
            </a:pPr>
            <a:endParaRPr lang="en-US" sz="1450"/>
          </a:p>
        </p:txBody>
      </p:sp>
      <p:sp>
        <p:nvSpPr>
          <p:cNvPr id="925569159" name=""/>
          <p:cNvSpPr/>
          <p:nvPr/>
        </p:nvSpPr>
        <p:spPr bwMode="auto">
          <a:xfrm flipH="0" flipV="0">
            <a:off x="398225" y="1938951"/>
            <a:ext cx="11463824" cy="3932280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A busca binária na rede Tor funciona assim: a lista de relays precisa estar ordenada por velocidade. A Tor olha primeiro o relay que está no meio da lista e compara a velocidade dele com a velocidade que está procurando. Se o relay do meio for mais lento do que o desejado, ela descarta toda a metade da esquerda e continua só com a metade da direita. Se for mais rápido, ela descarta a metade da direita. Depois repete o processo olhando novamente o meio da lista que sobrou. A cada passo a quantidade de relays diminui pela metade, até encontrar o relay certo. Por isso, mesmo com milhares de relays, a busca termina em poucos passos e tem complexidade O(log n).</a:t>
            </a:r>
            <a:endParaRPr sz="2800">
              <a:solidFill>
                <a:schemeClr val="bg1"/>
              </a:solidFill>
            </a:endParaRPr>
          </a:p>
        </p:txBody>
      </p:sp>
      <p:pic>
        <p:nvPicPr>
          <p:cNvPr id="1861846613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9066552" y="6445249"/>
            <a:ext cx="3063874" cy="38109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7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618249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62939" y="1193153"/>
            <a:ext cx="6903269" cy="4580434"/>
          </a:xfrm>
          <a:prstGeom prst="rect">
            <a:avLst/>
          </a:prstGeom>
        </p:spPr>
      </p:pic>
      <p:sp>
        <p:nvSpPr>
          <p:cNvPr id="1535581921" name="Text 0"/>
          <p:cNvSpPr/>
          <p:nvPr/>
        </p:nvSpPr>
        <p:spPr bwMode="auto">
          <a:xfrm flipH="0" flipV="0">
            <a:off x="8032250" y="700483"/>
            <a:ext cx="3716873" cy="17719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  <a:defRPr/>
            </a:pPr>
            <a:r>
              <a:rPr lang="en-US" sz="3700">
                <a:solidFill>
                  <a:srgbClr val="F2F2F3"/>
                </a:solidFill>
                <a:latin typeface="Poppins Light"/>
                <a:ea typeface="Poppins Light"/>
                <a:cs typeface="Poppins Light"/>
              </a:rPr>
              <a:t>Edward Snowden e a Tor</a:t>
            </a:r>
            <a:endParaRPr lang="en-US" sz="3700"/>
          </a:p>
        </p:txBody>
      </p:sp>
      <p:sp>
        <p:nvSpPr>
          <p:cNvPr id="864122454" name="Text 1"/>
          <p:cNvSpPr/>
          <p:nvPr/>
        </p:nvSpPr>
        <p:spPr bwMode="auto">
          <a:xfrm flipH="0" flipV="0">
            <a:off x="8032250" y="2308620"/>
            <a:ext cx="3986748" cy="1174749"/>
          </a:xfrm>
          <a:prstGeom prst="rect">
            <a:avLst/>
          </a:prstGeom>
          <a:noFill/>
          <a:ln/>
        </p:spPr>
        <p:txBody>
          <a:bodyPr vertOverflow="overflow" horzOverflow="overflow" vert="horz" wrap="square" lIns="0" tIns="0" rIns="0" bIns="0" numCol="1" spcCol="0" rtlCol="0" fromWordArt="0" anchor="t" anchorCtr="0" forceAA="0" upright="0" compatLnSpc="0">
            <a:normAutofit fontScale="90000" lnSpcReduction="2000"/>
          </a:bodyPr>
          <a:lstStyle/>
          <a:p>
            <a:pPr marL="0" indent="0" algn="l">
              <a:lnSpc>
                <a:spcPct val="133000"/>
              </a:lnSpc>
              <a:buNone/>
              <a:defRPr/>
            </a:pPr>
            <a:r>
              <a:rPr lang="en-US" sz="2200">
                <a:solidFill>
                  <a:srgbClr val="E5E0DF"/>
                </a:solidFill>
                <a:latin typeface="Roboto Light"/>
                <a:ea typeface="Roboto Light"/>
                <a:cs typeface="Roboto Light"/>
              </a:rPr>
              <a:t>Snowden </a:t>
            </a:r>
            <a:r>
              <a:rPr lang="en-US" sz="2200">
                <a:solidFill>
                  <a:srgbClr val="E5E0DF"/>
                </a:solidFill>
                <a:latin typeface="Roboto Light"/>
                <a:ea typeface="Roboto Light"/>
                <a:cs typeface="Roboto Light"/>
              </a:rPr>
              <a:t>usou Tor para vazar documentos secretos do governo americano em 2013.</a:t>
            </a:r>
            <a:endParaRPr sz="2200"/>
          </a:p>
        </p:txBody>
      </p:sp>
      <p:sp>
        <p:nvSpPr>
          <p:cNvPr id="339803130" name="Text 3"/>
          <p:cNvSpPr/>
          <p:nvPr/>
        </p:nvSpPr>
        <p:spPr bwMode="auto">
          <a:xfrm flipH="0" flipV="0">
            <a:off x="8032250" y="3710682"/>
            <a:ext cx="3986748" cy="2861568"/>
          </a:xfrm>
          <a:prstGeom prst="rect">
            <a:avLst/>
          </a:prstGeom>
          <a:noFill/>
          <a:ln/>
        </p:spPr>
        <p:txBody>
          <a:bodyPr vertOverflow="overflow" horzOverflow="overflow" vert="horz" wrap="square" lIns="0" tIns="0" rIns="0" bIns="0" numCol="1" spcCol="0" rtlCol="0" fromWordArt="0" anchor="t" anchorCtr="0" forceAA="0" upright="0" compatLnSpc="0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  <a:defRPr/>
            </a:pPr>
            <a:r>
              <a:rPr lang="en-US" sz="2000">
                <a:solidFill>
                  <a:srgbClr val="E5E0DF"/>
                </a:solidFill>
                <a:latin typeface="Roboto Light"/>
                <a:ea typeface="Roboto Light"/>
                <a:cs typeface="Roboto Light"/>
              </a:rPr>
              <a:t>A rede Tor o protegeu de ser rastreado enquanto compartilhava informações com jornalistas.</a:t>
            </a:r>
            <a:endParaRPr sz="2000"/>
          </a:p>
          <a:p>
            <a:pPr marL="0" indent="0" algn="l">
              <a:lnSpc>
                <a:spcPct val="133000"/>
              </a:lnSpc>
              <a:buNone/>
              <a:defRPr/>
            </a:pPr>
            <a:r>
              <a:rPr lang="en-US" sz="2000">
                <a:solidFill>
                  <a:srgbClr val="E5E0DF"/>
                </a:solidFill>
                <a:latin typeface="Roboto Light"/>
                <a:ea typeface="Roboto Light"/>
                <a:cs typeface="Roboto Light"/>
              </a:rPr>
              <a:t>Sem Tor, ele teria sido identificado imediatamente.</a:t>
            </a:r>
            <a:endParaRPr lang="en-US" sz="1450"/>
          </a:p>
        </p:txBody>
      </p:sp>
      <p:pic>
        <p:nvPicPr>
          <p:cNvPr id="1387191710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9066552" y="6445249"/>
            <a:ext cx="3063874" cy="38109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8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9688727" name="Text 0"/>
          <p:cNvSpPr/>
          <p:nvPr/>
        </p:nvSpPr>
        <p:spPr bwMode="auto">
          <a:xfrm>
            <a:off x="430896" y="383479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3700">
                <a:solidFill>
                  <a:srgbClr val="F2F2F3"/>
                </a:solidFill>
                <a:latin typeface="Poppins Light"/>
                <a:ea typeface="Poppins Light"/>
                <a:cs typeface="Poppins Light"/>
              </a:rPr>
              <a:t>A EFF Defende a Tor</a:t>
            </a:r>
            <a:endParaRPr lang="en-US" sz="3700"/>
          </a:p>
        </p:txBody>
      </p:sp>
      <p:sp>
        <p:nvSpPr>
          <p:cNvPr id="235742267" name="Text 2"/>
          <p:cNvSpPr/>
          <p:nvPr/>
        </p:nvSpPr>
        <p:spPr bwMode="auto">
          <a:xfrm flipH="0" flipV="0">
            <a:off x="430896" y="1715951"/>
            <a:ext cx="5563149" cy="2427422"/>
          </a:xfrm>
          <a:prstGeom prst="rect">
            <a:avLst/>
          </a:prstGeom>
          <a:noFill/>
          <a:ln/>
        </p:spPr>
        <p:txBody>
          <a:bodyPr vertOverflow="overflow" horzOverflow="overflow" vert="horz" wrap="square" lIns="0" tIns="0" rIns="0" bIns="0" numCol="1" spcCol="0" rtlCol="0" fromWordArt="0" anchor="t" anchorCtr="0" forceAA="0" upright="0" compatLnSpc="0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  <a:defRPr/>
            </a:pPr>
            <a:r>
              <a:rPr lang="en-US" sz="2200">
                <a:solidFill>
                  <a:srgbClr val="E5E0DF"/>
                </a:solidFill>
                <a:latin typeface="Roboto Light"/>
                <a:ea typeface="Roboto Light"/>
                <a:cs typeface="Roboto Light"/>
              </a:rPr>
              <a:t>A </a:t>
            </a:r>
            <a:r>
              <a:rPr lang="en-US" sz="2200" b="1">
                <a:solidFill>
                  <a:srgbClr val="E5E0DF"/>
                </a:solidFill>
                <a:latin typeface="Roboto Bold"/>
                <a:ea typeface="Roboto Bold"/>
                <a:cs typeface="Roboto Bold"/>
              </a:rPr>
              <a:t>Electronic Frontier Foundation</a:t>
            </a:r>
            <a:r>
              <a:rPr lang="en-US" sz="2200">
                <a:solidFill>
                  <a:srgbClr val="E5E0DF"/>
                </a:solidFill>
                <a:latin typeface="Roboto Light"/>
                <a:ea typeface="Roboto Light"/>
                <a:cs typeface="Roboto Light"/>
              </a:rPr>
              <a:t> é uma organização que defende a privacidade e os direitos digitais das pessoas.</a:t>
            </a:r>
            <a:endParaRPr sz="2200"/>
          </a:p>
          <a:p>
            <a:pPr marL="0" indent="0" algn="l">
              <a:lnSpc>
                <a:spcPct val="133000"/>
              </a:lnSpc>
              <a:buNone/>
              <a:defRPr/>
            </a:pPr>
            <a:r>
              <a:rPr lang="en-US" sz="2200">
                <a:solidFill>
                  <a:srgbClr val="E5E0DF"/>
                </a:solidFill>
                <a:latin typeface="Roboto Light"/>
                <a:ea typeface="Roboto Light"/>
                <a:cs typeface="Roboto Light"/>
              </a:rPr>
              <a:t>Para a EFF, a Tor é uma ferramenta </a:t>
            </a:r>
            <a:r>
              <a:rPr lang="en-US" sz="2200" b="1">
                <a:solidFill>
                  <a:srgbClr val="E5E0DF"/>
                </a:solidFill>
                <a:latin typeface="Roboto Bold"/>
                <a:ea typeface="Roboto Bold"/>
                <a:cs typeface="Roboto Bold"/>
              </a:rPr>
              <a:t>importante e legítima</a:t>
            </a:r>
            <a:r>
              <a:rPr lang="en-US" sz="2200">
                <a:solidFill>
                  <a:srgbClr val="E5E0DF"/>
                </a:solidFill>
                <a:latin typeface="Roboto Light"/>
                <a:ea typeface="Roboto Light"/>
                <a:cs typeface="Roboto Light"/>
              </a:rPr>
              <a:t>.</a:t>
            </a:r>
            <a:endParaRPr sz="2200"/>
          </a:p>
        </p:txBody>
      </p:sp>
      <p:sp>
        <p:nvSpPr>
          <p:cNvPr id="1272723361" name="Text 3"/>
          <p:cNvSpPr/>
          <p:nvPr/>
        </p:nvSpPr>
        <p:spPr bwMode="auto">
          <a:xfrm flipH="0" flipV="0">
            <a:off x="343974" y="4559398"/>
            <a:ext cx="6198149" cy="2441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  <a:defRPr/>
            </a:pPr>
            <a:r>
              <a:rPr lang="en-US" sz="2200">
                <a:solidFill>
                  <a:srgbClr val="E5E0DF"/>
                </a:solidFill>
                <a:latin typeface="Roboto Light"/>
                <a:ea typeface="Roboto Light"/>
                <a:cs typeface="Roboto Light"/>
              </a:rPr>
              <a:t>Protege jornalistas em países perigosos</a:t>
            </a:r>
            <a:endParaRPr sz="2200"/>
          </a:p>
          <a:p>
            <a:pPr marL="294640" indent="-294640" algn="l">
              <a:lnSpc>
                <a:spcPct val="133000"/>
              </a:lnSpc>
              <a:buSzPct val="100000"/>
              <a:buChar char="•"/>
              <a:defRPr/>
            </a:pPr>
            <a:r>
              <a:rPr lang="en-US" sz="2200">
                <a:solidFill>
                  <a:srgbClr val="E5E0DF"/>
                </a:solidFill>
                <a:latin typeface="Roboto Light"/>
                <a:ea typeface="Roboto Light"/>
                <a:cs typeface="Roboto Light"/>
              </a:rPr>
              <a:t>Protege ativistas e denunciantes</a:t>
            </a:r>
            <a:endParaRPr sz="2200"/>
          </a:p>
          <a:p>
            <a:pPr marL="294640" indent="-294640" algn="l">
              <a:lnSpc>
                <a:spcPct val="133000"/>
              </a:lnSpc>
              <a:buSzPct val="100000"/>
              <a:buChar char="•"/>
              <a:defRPr/>
            </a:pPr>
            <a:r>
              <a:rPr lang="en-US" sz="2200">
                <a:solidFill>
                  <a:srgbClr val="E5E0DF"/>
                </a:solidFill>
                <a:latin typeface="Roboto Light"/>
                <a:ea typeface="Roboto Light"/>
                <a:cs typeface="Roboto Light"/>
              </a:rPr>
              <a:t>Protege qualquer pessoa que precise de privacidade</a:t>
            </a:r>
            <a:endParaRPr lang="en-US" sz="1450"/>
          </a:p>
        </p:txBody>
      </p:sp>
      <p:pic>
        <p:nvPicPr>
          <p:cNvPr id="1320082850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6314455" y="2158999"/>
            <a:ext cx="5815972" cy="2907985"/>
          </a:xfrm>
          <a:prstGeom prst="rect">
            <a:avLst/>
          </a:prstGeom>
        </p:spPr>
      </p:pic>
      <p:pic>
        <p:nvPicPr>
          <p:cNvPr id="2067828297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9066553" y="6445249"/>
            <a:ext cx="3063874" cy="38109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9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68953582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624921701" name="Text 0"/>
          <p:cNvSpPr/>
          <p:nvPr/>
        </p:nvSpPr>
        <p:spPr bwMode="auto">
          <a:xfrm>
            <a:off x="661475" y="527844"/>
            <a:ext cx="6296860" cy="11261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3500">
                <a:solidFill>
                  <a:srgbClr val="F2F2F3"/>
                </a:solidFill>
                <a:latin typeface="Poppins Light"/>
                <a:ea typeface="Poppins Light"/>
                <a:cs typeface="Poppins Light"/>
              </a:rPr>
              <a:t>Por que mais gente tem que usar Tor?</a:t>
            </a:r>
            <a:endParaRPr lang="en-US" sz="3500"/>
          </a:p>
        </p:txBody>
      </p:sp>
      <p:pic>
        <p:nvPicPr>
          <p:cNvPr id="48797681" name="Image 1" descr="preencoded.png"/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 bwMode="auto">
          <a:xfrm>
            <a:off x="661475" y="1911548"/>
            <a:ext cx="6296860" cy="1358404"/>
          </a:xfrm>
          <a:prstGeom prst="rect">
            <a:avLst/>
          </a:prstGeom>
        </p:spPr>
      </p:pic>
      <p:sp>
        <p:nvSpPr>
          <p:cNvPr id="2028756042" name="Text 1"/>
          <p:cNvSpPr/>
          <p:nvPr/>
        </p:nvSpPr>
        <p:spPr bwMode="auto">
          <a:xfrm>
            <a:off x="968549" y="2117030"/>
            <a:ext cx="5784308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750">
                <a:solidFill>
                  <a:srgbClr val="E5E0DF"/>
                </a:solidFill>
                <a:latin typeface="Poppins Light"/>
                <a:ea typeface="Poppins Light"/>
                <a:cs typeface="Poppins Light"/>
              </a:rPr>
              <a:t>Mais usuários = mais segurança</a:t>
            </a:r>
            <a:endParaRPr lang="en-US" sz="1750"/>
          </a:p>
        </p:txBody>
      </p:sp>
      <p:sp>
        <p:nvSpPr>
          <p:cNvPr id="154031802" name="Text 2"/>
          <p:cNvSpPr/>
          <p:nvPr/>
        </p:nvSpPr>
        <p:spPr bwMode="auto">
          <a:xfrm>
            <a:off x="968549" y="2501503"/>
            <a:ext cx="5784308" cy="562967"/>
          </a:xfrm>
          <a:prstGeom prst="rect">
            <a:avLst/>
          </a:prstGeom>
          <a:noFill/>
          <a:ln/>
        </p:spPr>
        <p:txBody>
          <a:bodyPr vertOverflow="overflow" horzOverflow="overflow" vert="horz" wrap="square" lIns="0" tIns="0" rIns="0" bIns="0" numCol="1" spcCol="0" rtlCol="0" fromWordArt="0" anchor="t" anchorCtr="0" forceAA="0" upright="0" compatLnSpc="0">
            <a:normAutofit fontScale="55000" lnSpcReduction="9000"/>
          </a:bodyPr>
          <a:lstStyle/>
          <a:p>
            <a:pPr marL="0" indent="0" algn="l">
              <a:lnSpc>
                <a:spcPct val="130000"/>
              </a:lnSpc>
              <a:buNone/>
              <a:defRPr/>
            </a:pPr>
            <a:r>
              <a:rPr lang="en-US" sz="2800">
                <a:solidFill>
                  <a:srgbClr val="E5E0DF"/>
                </a:solidFill>
                <a:latin typeface="Roboto Light"/>
                <a:ea typeface="Roboto Light"/>
                <a:cs typeface="Roboto Light"/>
              </a:rPr>
              <a:t>Quanto mais gente usa a Tor, mais difícil fica de rastrear qualquer pessoa específica.</a:t>
            </a:r>
            <a:endParaRPr sz="2800"/>
          </a:p>
        </p:txBody>
      </p:sp>
      <p:pic>
        <p:nvPicPr>
          <p:cNvPr id="1131854506" name="Image 2" descr="preencoded.png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661475" y="3441601"/>
            <a:ext cx="6296860" cy="1358404"/>
          </a:xfrm>
          <a:prstGeom prst="rect">
            <a:avLst/>
          </a:prstGeom>
        </p:spPr>
      </p:pic>
      <p:sp>
        <p:nvSpPr>
          <p:cNvPr id="812106049" name="Text 3"/>
          <p:cNvSpPr/>
          <p:nvPr/>
        </p:nvSpPr>
        <p:spPr bwMode="auto">
          <a:xfrm>
            <a:off x="968549" y="3647083"/>
            <a:ext cx="5784308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750">
                <a:solidFill>
                  <a:srgbClr val="E5E0DF"/>
                </a:solidFill>
                <a:latin typeface="Poppins Light"/>
                <a:ea typeface="Poppins Light"/>
                <a:cs typeface="Poppins Light"/>
              </a:rPr>
              <a:t>Como se esconder em uma multidão</a:t>
            </a:r>
            <a:endParaRPr lang="en-US" sz="1750"/>
          </a:p>
        </p:txBody>
      </p:sp>
      <p:sp>
        <p:nvSpPr>
          <p:cNvPr id="1151086076" name="Text 4"/>
          <p:cNvSpPr/>
          <p:nvPr/>
        </p:nvSpPr>
        <p:spPr bwMode="auto">
          <a:xfrm>
            <a:off x="968549" y="4031555"/>
            <a:ext cx="5784308" cy="562967"/>
          </a:xfrm>
          <a:prstGeom prst="rect">
            <a:avLst/>
          </a:prstGeom>
          <a:noFill/>
          <a:ln/>
        </p:spPr>
        <p:txBody>
          <a:bodyPr vertOverflow="overflow" horzOverflow="overflow" vert="horz" wrap="square" lIns="0" tIns="0" rIns="0" bIns="0" numCol="1" spcCol="0" rtlCol="0" fromWordArt="0" anchor="t" anchorCtr="0" forceAA="0" upright="0" compatLnSpc="0">
            <a:normAutofit fontScale="60000" lnSpcReduction="8000"/>
          </a:bodyPr>
          <a:lstStyle/>
          <a:p>
            <a:pPr marL="0" indent="0" algn="l">
              <a:lnSpc>
                <a:spcPct val="130000"/>
              </a:lnSpc>
              <a:buNone/>
              <a:defRPr/>
            </a:pPr>
            <a:r>
              <a:rPr lang="en-US" sz="2400">
                <a:solidFill>
                  <a:srgbClr val="E5E0DF"/>
                </a:solidFill>
                <a:latin typeface="Roboto Light"/>
                <a:ea typeface="Roboto Light"/>
                <a:cs typeface="Roboto Light"/>
              </a:rPr>
              <a:t>Se só uma pessoa usa, ela é fácil de achar. Se mil pessoas usam, você some na multidão.</a:t>
            </a:r>
            <a:endParaRPr sz="2400"/>
          </a:p>
        </p:txBody>
      </p:sp>
      <p:pic>
        <p:nvPicPr>
          <p:cNvPr id="1991359932" name="Image 3" descr="preencoded.png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661475" y="4971653"/>
            <a:ext cx="6296860" cy="1358404"/>
          </a:xfrm>
          <a:prstGeom prst="rect">
            <a:avLst/>
          </a:prstGeom>
        </p:spPr>
      </p:pic>
      <p:sp>
        <p:nvSpPr>
          <p:cNvPr id="827465342" name="Text 5"/>
          <p:cNvSpPr/>
          <p:nvPr/>
        </p:nvSpPr>
        <p:spPr bwMode="auto">
          <a:xfrm>
            <a:off x="968549" y="5177135"/>
            <a:ext cx="5784308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750">
                <a:solidFill>
                  <a:srgbClr val="E5E0DF"/>
                </a:solidFill>
                <a:latin typeface="Poppins Light"/>
                <a:ea typeface="Poppins Light"/>
                <a:cs typeface="Poppins Light"/>
              </a:rPr>
              <a:t>Conclusão</a:t>
            </a:r>
            <a:endParaRPr lang="en-US" sz="1750"/>
          </a:p>
        </p:txBody>
      </p:sp>
      <p:sp>
        <p:nvSpPr>
          <p:cNvPr id="279067265" name="Text 6"/>
          <p:cNvSpPr/>
          <p:nvPr/>
        </p:nvSpPr>
        <p:spPr bwMode="auto">
          <a:xfrm>
            <a:off x="968549" y="5561608"/>
            <a:ext cx="5784308" cy="562967"/>
          </a:xfrm>
          <a:prstGeom prst="rect">
            <a:avLst/>
          </a:prstGeom>
          <a:noFill/>
          <a:ln/>
        </p:spPr>
        <p:txBody>
          <a:bodyPr vertOverflow="overflow" horzOverflow="overflow" vert="horz" wrap="square" lIns="0" tIns="0" rIns="0" bIns="0" numCol="1" spcCol="0" rtlCol="0" fromWordArt="0" anchor="t" anchorCtr="0" forceAA="0" upright="0" compatLnSpc="0">
            <a:normAutofit fontScale="55000" lnSpcReduction="9000"/>
          </a:bodyPr>
          <a:lstStyle/>
          <a:p>
            <a:pPr marL="0" indent="0" algn="l">
              <a:lnSpc>
                <a:spcPct val="130000"/>
              </a:lnSpc>
              <a:buNone/>
              <a:defRPr/>
            </a:pPr>
            <a:r>
              <a:rPr lang="en-US" sz="2600">
                <a:solidFill>
                  <a:srgbClr val="E5E0DF"/>
                </a:solidFill>
                <a:latin typeface="Roboto Light"/>
                <a:ea typeface="Roboto Light"/>
                <a:cs typeface="Roboto Light"/>
              </a:rPr>
              <a:t>O(n log n) garante que a Tor funcione rápido para todos — e privacidade é um direito de todos.</a:t>
            </a:r>
            <a:endParaRPr sz="2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ONLYOFFICE/9.4.0.129</Application>
  <PresentationFormat>On-screen Show (4:3)</PresentationFormat>
  <Paragraphs>0</Paragraphs>
  <Slides>10</Slides>
  <Notes>10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3</cp:revision>
  <dcterms:created xsi:type="dcterms:W3CDTF">2026-09-16T23:36:41Z</dcterms:created>
  <dcterms:modified xsi:type="dcterms:W3CDTF">2026-09-17T19:27:27Z</dcterms:modified>
</cp:coreProperties>
</file>